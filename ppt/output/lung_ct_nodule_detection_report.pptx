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肺部 CT 结节检测与可视化系统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94944" y="18470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传统图像处理版 · C++17 / OpenCV · LUNA16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4944" y="5321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Stage0-5 pipeline: MHD/RAW 读取、肺实质分割、频域增强、候选检测、特征筛选、GUI 可视化</a:t>
            </a:r>
            <a:endParaRPr lang="en-US" sz="1200" dirty="0"/>
          </a:p>
        </p:txBody>
      </p:sp>
      <p:pic>
        <p:nvPicPr>
          <p:cNvPr id="6" name="Image 0" descr="/Users/yunfan/重要文档/2026.5/医学图像处理大作业/ppt/assets/slice_034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868680"/>
            <a:ext cx="2971800" cy="2971800"/>
          </a:xfrm>
          <a:prstGeom prst="rect">
            <a:avLst/>
          </a:prstGeom>
        </p:spPr>
      </p:pic>
      <p:pic>
        <p:nvPicPr>
          <p:cNvPr id="7" name="Image 1" descr="/Users/yunfan/重要文档/2026.5/医学图像处理大作业/data/real_run_check_300136985030081433029390459071/m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977640"/>
            <a:ext cx="2971800" cy="1691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4944" y="2331720"/>
            <a:ext cx="6629400" cy="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94944" y="6172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医学图像处理大作业 / 课堂汇报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选题动机与课程契合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problem is suitable for classical DIP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6420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3–30 mm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49808" y="2176272"/>
            <a:ext cx="224028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LUNA16 结节尺寸范围：适合用尺度、频域和形态特征建模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1880" y="16642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11880" y="2176272"/>
            <a:ext cx="228600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不使用深度学习；完整展示课程 1-8 章知识点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46520" y="16642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46520" y="2176272"/>
            <a:ext cx="233172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860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课堂演示要求：短时间内讲清楚流程、结果与可视化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" y="3493008"/>
            <a:ext cx="386334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3188" y="3493008"/>
            <a:ext cx="386334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721608"/>
            <a:ext cx="340614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从三维肺部 CT 数据中自动检测可疑结节位置，并输出可解释的图像、表格与 GUI 展示。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课程关联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采样与量化、灰度变换、傅里叶增强、形态学、分割、区域描述与纹理特征。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61788" y="3721608"/>
            <a:ext cx="340614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设计约束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C++ 与 OpenCV；保留原始 HU 数据；BMP/PGM/PPM 仅作为展示输出，不替代算法中的体数据。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汇报重点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不是追求深度学习 SOTA，而是证明传统图像处理 pipeline 能端到端运行、验证和调参。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数据集与 Ground Truth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LUNA16 subset8 + official annotations.csv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33172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09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9536" y="194767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LUNA16 subset8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2313432"/>
            <a:ext cx="207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 例胸部 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.mhd 记录体数据元信息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.raw 保存原始 HU 体素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29000" y="1600200"/>
            <a:ext cx="242316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1709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57016" y="1947672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annotations.csv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57016" y="2313432"/>
            <a:ext cx="2167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例有结节标注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118 个标准结节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每行给出 3D 中心坐标与直径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36208" y="1600200"/>
            <a:ext cx="274320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709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64224" y="194767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坐标匹配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4224" y="2313432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程序输出体素坐标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Offset / Spacing 转为世界坐标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 &lt;= 标注半径即命中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63240" y="2514600"/>
            <a:ext cx="338328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52160" y="2514600"/>
            <a:ext cx="347472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81160" y="1325880"/>
            <a:ext cx="2148840" cy="2148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23" name="Image 0" descr="/Users/yunfan/重要文档/2026.5/医学图像处理大作业/ppt/assets/slice_034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2" y="1399032"/>
            <a:ext cx="2002536" cy="172821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372600" y="32004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肺窗切片：二维观察基础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49808" y="3977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不是逐层 mask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749808" y="4343400"/>
            <a:ext cx="84124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专家标注以 3D 结节中心 + 直径的方式给出；一个结节可能跨多层 CT，但 CSV 中只对应一行。程序验证时使用三维距离匹配，而不是肉眼逐张判断红圈。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464040" y="422452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9464040" y="4736592"/>
            <a:ext cx="841248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64040" y="48463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subset8 CT cases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0442448" y="42245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10442448" y="4736592"/>
            <a:ext cx="96012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442448" y="48463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annotated nodules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 Pipeline：Stage0–5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volume to visualized candidates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3090672" cy="1389888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682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3816" y="1920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 / 肺窗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22860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.mhd/.raw 解析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 保留 + 窗宽窗位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0" y="1572768"/>
            <a:ext cx="3090672" cy="1389888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682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17136" y="1920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肺分割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17136" y="22860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 + 形态学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连通域 + 空洞填充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92440" y="1572768"/>
            <a:ext cx="3090672" cy="1389888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1682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0456" y="1920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频域增强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0456" y="22860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FFT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高斯差带通滤波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3630168"/>
            <a:ext cx="3090672" cy="1389888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739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3816" y="3977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候选检测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3816" y="43434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 ROI 内亮斑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连通域生成 2D 候选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89120" y="3630168"/>
            <a:ext cx="3090672" cy="1389888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3739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17136" y="3977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特征筛选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17136" y="43434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直径 / 圆形度 / HU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GLCM 纹理 / 跨层信息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92440" y="3630168"/>
            <a:ext cx="3090672" cy="1389888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37398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0456" y="3977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0456" y="43434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overlay / MIP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features.csv / GUI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30752" y="2267712"/>
            <a:ext cx="310896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24928" y="2267712"/>
            <a:ext cx="329184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40280" y="2971800"/>
            <a:ext cx="0" cy="612648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730752" y="4315968"/>
            <a:ext cx="310896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24928" y="4315968"/>
            <a:ext cx="329184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85800" y="5532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设计原则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1508760" y="5468112"/>
            <a:ext cx="87782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前端尽量不漏：生成较充分的候选；后端逐步削减假阳性：用可解释特征和训练集调参控制输出。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Stage0–1：从 HU 切片到肺掩膜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windowing and lung parenchyma segmentation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13232" y="1508760"/>
            <a:ext cx="2743200" cy="2788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9" name="Image 0" descr="/Users/yunfan/重要文档/2026.5/医学图像处理大作业/ppt/assets/slice_034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581912"/>
            <a:ext cx="2596896" cy="23682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40233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肺窗窗口图：适合观察肺实质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675888" y="1508760"/>
            <a:ext cx="2743200" cy="2788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12" name="Image 1" descr="/Users/yunfan/重要文档/2026.5/医学图像处理大作业/ppt/assets/slice_034_m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581912"/>
            <a:ext cx="2596896" cy="23682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40233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肺掩膜：白色区域进入后续搜索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638544" y="1508760"/>
            <a:ext cx="2743200" cy="2788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15" name="Image 2" descr="/Users/yunfan/重要文档/2026.5/医学图像处理大作业/ppt/assets/slice_034_over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581912"/>
            <a:ext cx="2596896" cy="23682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9984" y="40233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绿色轮廓：分割边界叠加验证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749808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算法要点</a:t>
            </a:r>
            <a:endParaRPr lang="en-US" sz="720" dirty="0"/>
          </a:p>
        </p:txBody>
      </p:sp>
      <p:sp>
        <p:nvSpPr>
          <p:cNvPr id="18" name="Text 13"/>
          <p:cNvSpPr/>
          <p:nvPr/>
        </p:nvSpPr>
        <p:spPr>
          <a:xfrm>
            <a:off x="749808" y="5138928"/>
            <a:ext cx="9875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 &lt; -320 初步提取低密度肺区域；删除边界连通空气；开运算去噪；保留最大两连通域；闭运算与空洞填充修复肺内结构。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Stage2–3：频域增强与二维候选生成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band-pass response creates candidate seeds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508760"/>
            <a:ext cx="2971800" cy="2971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9" name="Image 0" descr="/Users/yunfan/重要文档/2026.5/医学图像处理大作业/ppt/assets/slice_034_band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81912"/>
            <a:ext cx="2825496" cy="2551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420624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频域带通增强图：突出中等尺度结构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977640" y="1508760"/>
            <a:ext cx="2971800" cy="29718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12" name="Image 1" descr="/Users/yunfan/重要文档/2026.5/医学图像处理大作业/ppt/assets/slice_034_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1581912"/>
            <a:ext cx="2825496" cy="2551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420624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检测叠加图：红圈为程序预测候选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333488" y="1572768"/>
            <a:ext cx="1993392" cy="14630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61504" y="1682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461504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高斯差带通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461504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sigmaLow = 30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sigmaHigh =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压低背景与高频噪声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528048" y="1572768"/>
            <a:ext cx="1993392" cy="146304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656064" y="1682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9656064" y="19202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亮斑种子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656064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增强响应位于前 15%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 -500 &lt; HU &lt; 250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333488" y="3337560"/>
            <a:ext cx="4187952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461504" y="34472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461504" y="36850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连通域候选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461504" y="4050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闭运算连接近邻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每个白色区域生成 2D 候选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749808" y="5074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候选不是 ground truth</a:t>
            </a:r>
            <a:endParaRPr lang="en-US" sz="720" dirty="0"/>
          </a:p>
        </p:txBody>
      </p:sp>
      <p:sp>
        <p:nvSpPr>
          <p:cNvPr id="27" name="Text 23"/>
          <p:cNvSpPr/>
          <p:nvPr/>
        </p:nvSpPr>
        <p:spPr>
          <a:xfrm>
            <a:off x="2743200" y="5010912"/>
            <a:ext cx="78638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红圈代表程序认为“可疑”的位置；真实结节需要通过 annotations.csv 的三维中心坐标进行距离验证。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Stage4：二维特征与三维合并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features for false-positive reduction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600200"/>
            <a:ext cx="233172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09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77824" y="194767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3134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面积、等效直径、圆形度、外接框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66160" y="1600200"/>
            <a:ext cx="233172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1709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94176" y="194767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94176" y="23134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meanHU、stdHU，反映组织密度与内部波动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82512" y="1600200"/>
            <a:ext cx="233172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709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10528" y="194767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纹理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0528" y="23134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GLCM contrast / energy / homogeneity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98864" y="1600200"/>
            <a:ext cx="233172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1709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326880" y="194767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0" y="2313432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相邻切片位置接近者合并，得到 slice_count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9808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 tuned 过滤规则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49808" y="4251960"/>
            <a:ext cx="100584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圆形度 ≥ 0.46；meanHU ∈ [-410, 60]；stdHU ∈ [25, 210]；GLCM contrast ≤ 3.3；homogeneity ≥ 0.45；slice_count ≤ 18；每例最多保留 180 个候选。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49808" y="5230368"/>
            <a:ext cx="10287000" cy="5669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394960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目标：保持召回率不下降，同时显著减少红圈数量与假阳性候选。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验证设计：训练集调参，测试集验收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tuning on the test set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49808" y="2112264"/>
            <a:ext cx="128016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21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 CT 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95728" y="16002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395728" y="2112264"/>
            <a:ext cx="128016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2221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 CT 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41648" y="16002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041648" y="2112264"/>
            <a:ext cx="150876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22219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训练集标注结节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88736" y="16002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888736" y="2112264"/>
            <a:ext cx="150876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88736" y="22219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测试集标注结节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66760" y="1170432"/>
            <a:ext cx="274320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21" name="Image 0" descr="/Users/yunfan/重要文档/2026.5/医学图像处理大作业/data/real_run_check_300136985030081433029390459071/m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1243584"/>
            <a:ext cx="2596896" cy="15910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458200" y="2907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MIP：整例 CT 的最大密度投影概览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49808" y="3749040"/>
            <a:ext cx="25146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7824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77824" y="409651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训练集搜索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77824" y="446227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根据候选特征分布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 HU / 纹理 / 层数规则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657600" y="3749040"/>
            <a:ext cx="25146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85616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785616" y="409651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tuned 参数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785616" y="446227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C++ 命令行参数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保持实验可复现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565392" y="3749040"/>
            <a:ext cx="25146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8D6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93408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693408" y="4096512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测试集只评估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693408" y="4462272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不再看测试集调参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报告最终泛化结果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73552" y="4352544"/>
            <a:ext cx="365760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6181344" y="4352544"/>
            <a:ext cx="365760" cy="0"/>
          </a:xfrm>
          <a:prstGeom prst="line">
            <a:avLst/>
          </a:prstGeom>
          <a:noFill/>
          <a:ln w="13970">
            <a:solidFill>
              <a:srgbClr val="D71920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实验结果：召回保持，假阳性约减半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vs tuned on train/test split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57376" y="1714021"/>
            <a:ext cx="499262" cy="2693387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7648" y="1439701"/>
            <a:ext cx="718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193.3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828776" y="4498848"/>
            <a:ext cx="9564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246096" y="3118539"/>
            <a:ext cx="499262" cy="1288869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6368" y="2844219"/>
            <a:ext cx="718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2017496" y="4498848"/>
            <a:ext cx="9564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Tuned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434816" y="2010809"/>
            <a:ext cx="499262" cy="2396599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5088" y="1736489"/>
            <a:ext cx="718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3206216" y="4498848"/>
            <a:ext cx="9564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623536" y="3245336"/>
            <a:ext cx="499262" cy="116207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3808" y="2971016"/>
            <a:ext cx="7187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83.4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394936" y="4498848"/>
            <a:ext cx="9564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Tuned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22960" y="4407408"/>
            <a:ext cx="4754880" cy="0"/>
          </a:xfrm>
          <a:prstGeom prst="line">
            <a:avLst/>
          </a:prstGeom>
          <a:noFill/>
          <a:ln w="8890">
            <a:solidFill>
              <a:srgbClr val="1717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12070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false positives / scan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17184" y="2206996"/>
            <a:ext cx="460858" cy="22004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7456" y="1932676"/>
            <a:ext cx="680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56.4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6388584" y="4498848"/>
            <a:ext cx="91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714464" y="2206996"/>
            <a:ext cx="460858" cy="220041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04736" y="1932676"/>
            <a:ext cx="680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56.4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7485864" y="4498848"/>
            <a:ext cx="91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Tuned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811744" y="1969008"/>
            <a:ext cx="460858" cy="24384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02016" y="1694688"/>
            <a:ext cx="680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62.5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583144" y="4498848"/>
            <a:ext cx="91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9909024" y="1969008"/>
            <a:ext cx="460858" cy="243840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99296" y="1694688"/>
            <a:ext cx="680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62.5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9680424" y="4498848"/>
            <a:ext cx="91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Tuned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400800" y="4407408"/>
            <a:ext cx="4389120" cy="0"/>
          </a:xfrm>
          <a:prstGeom prst="line">
            <a:avLst/>
          </a:prstGeom>
          <a:noFill/>
          <a:ln w="8890">
            <a:solidFill>
              <a:srgbClr val="1717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12070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recall (%)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2960" y="5074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关键结论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1645920" y="5001768"/>
            <a:ext cx="9235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在测试集上严格召回保持 25/40 = 62.5%，候选数从 263.0/例降到 135.4/例，严格假阳性从 172.0/例降到 83.4/例。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消融与调参方向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and why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444752"/>
            <a:ext cx="10607040" cy="530352"/>
          </a:xfrm>
          <a:prstGeom prst="rect">
            <a:avLst/>
          </a:prstGeom>
          <a:solidFill>
            <a:srgbClr val="171717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5819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1581912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2029968"/>
            <a:ext cx="10607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671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meanHU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0" y="216712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[-410, 60]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2167128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排除过暗空气纹理与过亮血管/骨性结构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9808" y="2615184"/>
            <a:ext cx="10607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5234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stdHU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34640" y="275234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[25, 210]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752344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剔除过均匀噪声块与内部跳变过大的结构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" y="3200400"/>
            <a:ext cx="10607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3375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GLCM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333756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contrast ≤ 3.3；homogeneity ≥ 0.45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3337560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保留相对均匀、不过度复杂的候选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9808" y="3785616"/>
            <a:ext cx="10607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92277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slice_count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34640" y="392277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3922776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抑制长条状血管或跨层粘连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9808" y="4370832"/>
            <a:ext cx="10607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5079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34640" y="450799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每例最多 180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4507992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按解释性评分保留更像结节的候选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9808" y="5440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负向实验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1627632" y="5376672"/>
            <a:ext cx="93268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尝试放宽早期候选生成（min-diameter=2.5, min-circularity=0.35）后，测试集召回降至 24/40，候选与假阳性反而增加；因此不采用。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系统输出与现场演示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viewer shows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9808" y="1417320"/>
            <a:ext cx="201168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9" name="Image 0" descr="/Users/yunfan/重要文档/2026.5/医学图像处理大作业/ppt/assets/slice_034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90472"/>
            <a:ext cx="1865376" cy="15910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31546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窗口图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999232" y="1417320"/>
            <a:ext cx="201168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12" name="Image 1" descr="/Users/yunfan/重要文档/2026.5/医学图像处理大作业/ppt/assets/slice_034_m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1490472"/>
            <a:ext cx="1865376" cy="1591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90672" y="31546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肺掩膜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248656" y="1417320"/>
            <a:ext cx="201168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15" name="Image 2" descr="/Users/yunfan/重要文档/2026.5/医学图像处理大作业/ppt/assets/slice_034_band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490472"/>
            <a:ext cx="1865376" cy="1591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0096" y="31546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频域增强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7498080" y="1417320"/>
            <a:ext cx="201168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pic>
        <p:nvPicPr>
          <p:cNvPr id="18" name="Image 3" descr="/Users/yunfan/重要文档/2026.5/医学图像处理大作业/ppt/assets/slice_034_over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490472"/>
            <a:ext cx="1865376" cy="1591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89520" y="31546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检测叠加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49808" y="4069080"/>
            <a:ext cx="9875520" cy="9875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87552" y="43616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./build/lung_viewer data/demo_view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9808" y="5440680"/>
            <a:ext cx="98755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界面四宫格对应：窗口图 / 肺掩膜 / 频域增强 / 检测叠加；另有 MIP 窗口用于三维概览。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64240" cy="0"/>
          </a:xfrm>
          <a:prstGeom prst="line">
            <a:avLst/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肺部 CT 结节检测 / Classical DIP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109960" y="629107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总结与不足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566928" cy="411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1338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explainable, classical image processing system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5727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Stage0–5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49808" y="2084832"/>
            <a:ext cx="219456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端到端传统图像处理链路已完成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37560" y="1572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88/88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337560" y="2084832"/>
            <a:ext cx="182880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subset8 全量运行成功，无崩溃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32120" y="1572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×0.49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532120" y="2084832"/>
            <a:ext cx="182880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测试集严格假阳性约减半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26680" y="15727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62.5%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726680" y="2084832"/>
            <a:ext cx="2011680" cy="0"/>
          </a:xfrm>
          <a:prstGeom prst="line">
            <a:avLst/>
          </a:prstGeom>
          <a:noFill/>
          <a:ln w="8890">
            <a:solidFill>
              <a:srgbClr val="D8D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194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测试集严格召回保持不变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" y="3822192"/>
            <a:ext cx="42748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4668" y="3822192"/>
            <a:ext cx="4274820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D6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050792"/>
            <a:ext cx="38176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纯 C++ 解析 MHD/RAW 并保留 HU。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用课程方法完成肺分割、频域增强、连通域检测与纹理描述。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用官方 annotations.csv 完成可复现验证与 train/test 调参。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73268" y="4050792"/>
            <a:ext cx="38176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不足与后续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假阳性仍偏多，血管结构是主要干扰。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MIP 可视化仍有饱和问题。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可继续加入长宽比、偏心率、Hessian vesselness 等传统特征。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948672" y="4864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Medical Image Processing Coursework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肺部 CT 结节检测与可视化系统</dc:title>
  <dc:subject>Lung CT nodule detection with classical image processing</dc:subject>
  <dc:creator>Yunfan</dc:creator>
  <cp:lastModifiedBy>Yunfan</cp:lastModifiedBy>
  <cp:revision>1</cp:revision>
  <dcterms:created xsi:type="dcterms:W3CDTF">2026-05-21T15:55:48Z</dcterms:created>
  <dcterms:modified xsi:type="dcterms:W3CDTF">2026-05-21T15:55:48Z</dcterms:modified>
</cp:coreProperties>
</file>